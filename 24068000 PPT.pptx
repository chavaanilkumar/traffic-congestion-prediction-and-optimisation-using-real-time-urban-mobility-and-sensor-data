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5" r:id="rId1"/>
  </p:sldMasterIdLst>
  <p:notesMasterIdLst>
    <p:notesMasterId r:id="rId12"/>
  </p:notesMasterIdLst>
  <p:sldIdLst>
    <p:sldId id="256" r:id="rId2"/>
    <p:sldId id="262" r:id="rId3"/>
    <p:sldId id="263" r:id="rId4"/>
    <p:sldId id="264" r:id="rId5"/>
    <p:sldId id="261" r:id="rId6"/>
    <p:sldId id="257" r:id="rId7"/>
    <p:sldId id="258" r:id="rId8"/>
    <p:sldId id="259" r:id="rId9"/>
    <p:sldId id="260"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2" autoAdjust="0"/>
    <p:restoredTop sz="94630" autoAdjust="0"/>
  </p:normalViewPr>
  <p:slideViewPr>
    <p:cSldViewPr snapToGrid="0" snapToObjects="1">
      <p:cViewPr varScale="1">
        <p:scale>
          <a:sx n="85" d="100"/>
          <a:sy n="85" d="100"/>
        </p:scale>
        <p:origin x="-1378" y="-67"/>
      </p:cViewPr>
      <p:guideLst>
        <p:guide orient="horz" pos="2160"/>
        <p:guide pos="2880"/>
      </p:guideLst>
    </p:cSldViewPr>
  </p:slideViewPr>
  <p:outlineViewPr>
    <p:cViewPr>
      <p:scale>
        <a:sx n="33" d="100"/>
        <a:sy n="33" d="100"/>
      </p:scale>
      <p:origin x="0" y="6206"/>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098611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used in this implementation is obtained from the Zenodo repository using record ID 3939793. It contains California traffic data collected from PeMS sensors. The dataset was downloaded as a compressed file of approximately 606MB and extracted into three large CSV files totaling around 4.1GB. These files represent traffic data collected over four, eight, and twelve weeks. Each file contains speed readings recorded at five-minute intervals across multiple sensors. The data was processed by computing average speed per time step and merging all files into a unified time-series dataset indexed by timestamp.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Traffic congestion has become a major issue due to rapid urbanisation and increasing vehicle numbers. It affects travel time, fuel usage, and environmental conditions. Traditional traffic management systems depend on fixed rules and historical data, making them less effective in handling dynamic traffic situations. With the growth of real-time sensor data and urban mobility datasets, there is an opportunity to apply machine learning techniques for better prediction. Machine learning helps analyse complex traffic patterns over time and space. This research focuses on developing intelligent models that can predict congestion and support optimisation strategies to improve traffic flow and enhance overall transportation system efficiency.</a:t>
            </a:r>
          </a:p>
          <a:p>
            <a:endParaRPr lang="en-IN" dirty="0"/>
          </a:p>
        </p:txBody>
      </p:sp>
    </p:spTree>
    <p:extLst>
      <p:ext uri="{BB962C8B-B14F-4D97-AF65-F5344CB8AC3E}">
        <p14:creationId xmlns="" xmlns:p14="http://schemas.microsoft.com/office/powerpoint/2010/main" val="66606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main aim of this research is to design and test machine learning models for predicting and optimising traffic congestion using real-time data. The study focuses on improving traffic flow and reducing delays. To achieve this, data from urban mobility and traffic sensors is collected and </a:t>
            </a:r>
            <a:r>
              <a:rPr lang="en-IN" dirty="0" err="1"/>
              <a:t>preprocessed</a:t>
            </a:r>
            <a:r>
              <a:rPr lang="en-IN" dirty="0"/>
              <a:t>. Spatiotemporal models are developed to capture traffic patterns over time and space. The research also explores optimisation strategies such as traffic signal control and route planning. Model performance is evaluated using standard metrics like accuracy, RMSE, and MAE. Additionally, the study examines how well the models perform across different traffic scenarios and urban environments.</a:t>
            </a:r>
          </a:p>
          <a:p>
            <a:endParaRPr lang="en-IN" dirty="0"/>
          </a:p>
        </p:txBody>
      </p:sp>
    </p:spTree>
    <p:extLst>
      <p:ext uri="{BB962C8B-B14F-4D97-AF65-F5344CB8AC3E}">
        <p14:creationId xmlns="" xmlns:p14="http://schemas.microsoft.com/office/powerpoint/2010/main" val="3760417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research is guided by key questions related to traffic prediction and optimisation. It aims to identify important spatiotemporal features that influence congestion. Another focus is to evaluate how effective machine learning models are in handling dynamic and complex traffic scenarios. The study also examines how predictions can be used to improve traffic optimisation strategies. The rationale behind this research is that traditional systems are not flexible enough for real-time conditions. With access to real-time datasets, machine learning can provide more accurate insights. This helps improve decision-making in intelligent transportation systems and contributes to sustainable and efficient urban mobility solutions.</a:t>
            </a:r>
          </a:p>
          <a:p>
            <a:endParaRPr lang="en-IN" dirty="0"/>
          </a:p>
        </p:txBody>
      </p:sp>
    </p:spTree>
    <p:extLst>
      <p:ext uri="{BB962C8B-B14F-4D97-AF65-F5344CB8AC3E}">
        <p14:creationId xmlns="" xmlns:p14="http://schemas.microsoft.com/office/powerpoint/2010/main" val="1055886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C9A1A1C-144E-5BD5-5749-AD7FC2BCDD6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1DE5C87-3CC6-5F8A-021E-51A3FCCA0016}"/>
              </a:ext>
            </a:extLst>
          </p:cNvPr>
          <p:cNvSpPr>
            <a:spLocks noGrp="1" noRot="1" noChangeAspect="1"/>
          </p:cNvSpPr>
          <p:nvPr>
            <p:ph type="sldImg" idx="2"/>
          </p:nvPr>
        </p:nvSpPr>
        <p:spPr/>
      </p:sp>
      <p:sp>
        <p:nvSpPr>
          <p:cNvPr id="3" name="Notes Placeholder 2">
            <a:extLst>
              <a:ext uri="{FF2B5EF4-FFF2-40B4-BE49-F238E27FC236}">
                <a16:creationId xmlns="" xmlns:a16="http://schemas.microsoft.com/office/drawing/2014/main" id="{E47254D4-4AB1-FAD3-1F38-E0E7CC173B11}"/>
              </a:ext>
            </a:extLst>
          </p:cNvPr>
          <p:cNvSpPr>
            <a:spLocks noGrp="1"/>
          </p:cNvSpPr>
          <p:nvPr>
            <p:ph type="body" sz="quarter" idx="3"/>
          </p:nvPr>
        </p:nvSpPr>
        <p:spPr/>
        <p:txBody>
          <a:bodyPr/>
          <a:lstStyle/>
          <a:p>
            <a:r>
              <a:t>The dataset used in this implementation is obtained from the Zenodo repository using record ID 3939793. It contains California traffic data collected from PeMS sensors. The dataset was downloaded as a compressed file of approximately 606MB and extracted into three large CSV files totaling around 4.1GB. These files represent traffic data collected over four, eight, and twelve weeks. Each file contains speed readings recorded at five-minute intervals across multiple sensors. The data was processed by computing average speed per time step and merging all files into a unified time-series dataset indexed by timestamp.</a:t>
            </a:r>
          </a:p>
        </p:txBody>
      </p:sp>
      <p:sp>
        <p:nvSpPr>
          <p:cNvPr id="4" name="Slide Number Placeholder 3">
            <a:extLst>
              <a:ext uri="{FF2B5EF4-FFF2-40B4-BE49-F238E27FC236}">
                <a16:creationId xmlns="" xmlns:a16="http://schemas.microsoft.com/office/drawing/2014/main" id="{35757C32-5786-C007-5D74-25BFBD7E744F}"/>
              </a:ext>
            </a:extLst>
          </p:cNvPr>
          <p:cNvSpPr>
            <a:spLocks noGrp="1"/>
          </p:cNvSpPr>
          <p:nvPr>
            <p:ph type="sldNum" sz="quarter" idx="5"/>
          </p:nvPr>
        </p:nvSpPr>
        <p:spPr/>
      </p:sp>
    </p:spTree>
    <p:extLst>
      <p:ext uri="{BB962C8B-B14F-4D97-AF65-F5344CB8AC3E}">
        <p14:creationId xmlns="" xmlns:p14="http://schemas.microsoft.com/office/powerpoint/2010/main" val="1559511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methodology begins with downloading the dataset using the Zenodo API and extracting the compressed files. Each CSV file is processed individually by computing the average traffic speed across all sensors for every time step. These individual time-series are then merged into a single continuous dataset. Exploratory Data Analysis is performed to understand speed distribution, temporal patterns, and congestion behavior. Multiple regression models are developed to predict traffic speed. Finally, </a:t>
            </a:r>
            <a:r>
              <a:rPr/>
              <a:t>optimisation</a:t>
            </a:r>
            <a:r>
              <a:t> strategies such as adaptive signal control and rerouting are applied based on predicted congestion conditions to improve traffic flow.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preprocessing involves transforming raw traffic data into a structured format suitable for modeling. A timestamp index with five-minute intervals is created to represent the time series. Time-based features such as hour and day of the week are generated along with indicators for peak hours and weekends. Cyclical encoding using sine and cosine functions is applied to capture periodic patterns. Lag features are introduced to represent temporal dependencies in traffic flow. A rolling mean over a thirty-minute window is computed to smooth variations. Finally, the dataset is split into training and testing sets using a time-based approach.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development includes training multiple machine learning and deep learning models for traffic speed prediction. Feature scaling is applied using StandardScaler to normalize input variables. Linear Regression and Support Vector Regression are used as baseline models. Ensemble methods such as Random Forest and Gradient Boosting are implemented to improve predictive accuracy. Deep learning models including LSTM and GRU are developed to capture temporal dependencies in the data. All models are trained using the same dataset and evaluated using consistent performance metrics to ensure fair comparison and selection of the best-performing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evaluation is performed using R-squared, RMSE, and MAE metrics. Among all models, Random Forest achieved the best performance with an R-squared value of 0.486, RMSE of 2.659, and MAE of 1.922. Gradient Boosting, Linear Regression, and SVR showed comparatively lower performance. Deep learning models such as LSTM and GRU achieved R-squared values of approximately 0.418 and 0.419 respectively, indicating moderate performance. Based on these results, Random Forest is selected as the best-performing model. Additionally, </a:t>
            </a:r>
            <a:r>
              <a:rPr/>
              <a:t>optimisation</a:t>
            </a:r>
            <a:r>
              <a:t> strategies applied on predicted traffic conditions resulted in an improvement in overall traffic speed.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IN" dirty="0"/>
              <a:t>The results of this study show that the Random Forest model performed best among all models tested, achieving the highest R² score and lowest prediction errors. Other models like Gradient Boosting and Linear Regression showed moderate performance, while Support Vector Regression performed relatively lower. Deep learning models such as LSTM and GRU provided comparable results but did not outperform Random Forest. The implementation of optimisation strategies based on model predictions helped improve average traffic speed and overall traffic flow. These findings highlight that machine learning can effectively support intelligent traffic management systems and provide practical solutions for reducing congestion in urban environments.</a:t>
            </a:r>
          </a:p>
        </p:txBody>
      </p:sp>
    </p:spTree>
    <p:extLst>
      <p:ext uri="{BB962C8B-B14F-4D97-AF65-F5344CB8AC3E}">
        <p14:creationId xmlns="" xmlns:p14="http://schemas.microsoft.com/office/powerpoint/2010/main" val="295887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pPr/>
              <a:t>3/26/2026</a:t>
            </a:fld>
            <a:endParaRPr lang="en-US" dirty="0"/>
          </a:p>
        </p:txBody>
      </p:sp>
      <p:sp>
        <p:nvSpPr>
          <p:cNvPr id="5" name="Footer Placeholder 4"/>
          <p:cNvSpPr>
            <a:spLocks noGrp="1"/>
          </p:cNvSpPr>
          <p:nvPr>
            <p:ph type="ftr" sz="quarter" idx="11"/>
          </p:nvPr>
        </p:nvSpPr>
        <p:spPr>
          <a:xfrm>
            <a:off x="533401" y="5936189"/>
            <a:ext cx="4021666" cy="365125"/>
          </a:xfrm>
        </p:spPr>
        <p:txBody>
          <a:bodyPr/>
          <a:lstStyle/>
          <a:p>
            <a:endParaRPr lang="en-US" dirty="0"/>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3963852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213138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pPr/>
              <a:t>3/26/2026</a:t>
            </a:fld>
            <a:endParaRPr lang="en-US" dirty="0"/>
          </a:p>
        </p:txBody>
      </p:sp>
      <p:sp>
        <p:nvSpPr>
          <p:cNvPr id="5" name="Footer Placeholder 4"/>
          <p:cNvSpPr>
            <a:spLocks noGrp="1"/>
          </p:cNvSpPr>
          <p:nvPr>
            <p:ph type="ftr" sz="quarter" idx="11"/>
          </p:nvPr>
        </p:nvSpPr>
        <p:spPr>
          <a:xfrm>
            <a:off x="533400" y="5936189"/>
            <a:ext cx="4834673" cy="365125"/>
          </a:xfrm>
        </p:spPr>
        <p:txBody>
          <a:bodyPr/>
          <a:lstStyle/>
          <a:p>
            <a:endParaRPr lang="en-US" dirty="0"/>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2177533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2816330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87444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2597682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638175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172876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3692761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920114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872425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pPr/>
              <a:t>‹#›</a:t>
            </a:fld>
            <a:endParaRPr lang="en-US" dirty="0"/>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 xmlns:p14="http://schemas.microsoft.com/office/powerpoint/2010/main" val="1967545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3756449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1541901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4093128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3235139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pPr/>
              <a:t>3/26/2026</a:t>
            </a:fld>
            <a:endParaRPr lang="en-US" dirty="0"/>
          </a:p>
        </p:txBody>
      </p:sp>
      <p:sp>
        <p:nvSpPr>
          <p:cNvPr id="5" name="Footer Placeholder 4"/>
          <p:cNvSpPr>
            <a:spLocks noGrp="1"/>
          </p:cNvSpPr>
          <p:nvPr>
            <p:ph type="ftr" sz="quarter" idx="11"/>
          </p:nvPr>
        </p:nvSpPr>
        <p:spPr>
          <a:xfrm>
            <a:off x="510241" y="5936189"/>
            <a:ext cx="4518959" cy="365125"/>
          </a:xfrm>
        </p:spPr>
        <p:txBody>
          <a:bodyPr/>
          <a:lstStyle/>
          <a:p>
            <a:endParaRPr lang="en-US" dirty="0"/>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2872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pPr/>
              <a:t>3/26/2026</a:t>
            </a:fld>
            <a:endParaRPr lang="en-US" dirty="0"/>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pPr/>
              <a:t>‹#›</a:t>
            </a:fld>
            <a:endParaRPr lang="en-US" dirty="0"/>
          </a:p>
        </p:txBody>
      </p:sp>
    </p:spTree>
    <p:extLst>
      <p:ext uri="{BB962C8B-B14F-4D97-AF65-F5344CB8AC3E}">
        <p14:creationId xmlns="" xmlns:p14="http://schemas.microsoft.com/office/powerpoint/2010/main" val="148109928"/>
      </p:ext>
    </p:extLst>
  </p:cSld>
  <p:clrMap bg1="dk1" tx1="lt1" bg2="dk2" tx2="lt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15" y="491612"/>
            <a:ext cx="7755144" cy="1524000"/>
          </a:xfrm>
        </p:spPr>
        <p:txBody>
          <a:bodyPr>
            <a:noAutofit/>
          </a:bodyPr>
          <a:lstStyle/>
          <a:p>
            <a:pPr algn="ctr"/>
            <a:r>
              <a:rPr lang="en-US" sz="2000" b="1" dirty="0"/>
              <a:t>Machine learning–based intelligent traffic congestion prediction and optimisation using real-time urban mobility and sensor data</a:t>
            </a:r>
            <a:endParaRPr sz="2000" b="1" dirty="0"/>
          </a:p>
        </p:txBody>
      </p:sp>
      <p:sp>
        <p:nvSpPr>
          <p:cNvPr id="3" name="Content Placeholder 2"/>
          <p:cNvSpPr>
            <a:spLocks noGrp="1"/>
          </p:cNvSpPr>
          <p:nvPr>
            <p:ph idx="1"/>
          </p:nvPr>
        </p:nvSpPr>
        <p:spPr>
          <a:xfrm>
            <a:off x="1093888" y="3588776"/>
            <a:ext cx="6446520" cy="2015612"/>
          </a:xfrm>
        </p:spPr>
        <p:txBody>
          <a:bodyPr>
            <a:normAutofit/>
          </a:bodyPr>
          <a:lstStyle/>
          <a:p>
            <a:r>
              <a:rPr lang="en-US" dirty="0"/>
              <a:t>Student Name</a:t>
            </a:r>
            <a:r>
              <a:rPr lang="en-US" dirty="0" smtClean="0"/>
              <a:t>: Anil Kumar Chava</a:t>
            </a:r>
            <a:endParaRPr lang="en-US" dirty="0"/>
          </a:p>
          <a:p>
            <a:r>
              <a:rPr lang="en-US" dirty="0"/>
              <a:t>Student ID</a:t>
            </a:r>
            <a:r>
              <a:rPr lang="en-US" dirty="0" smtClean="0"/>
              <a:t>: 24068000</a:t>
            </a:r>
            <a:endParaRPr lang="en-US" dirty="0"/>
          </a:p>
          <a:p>
            <a:r>
              <a:rPr lang="en-US" dirty="0"/>
              <a:t>Supervisor Name</a:t>
            </a:r>
            <a:r>
              <a:rPr lang="en-US" dirty="0" smtClean="0"/>
              <a:t>: </a:t>
            </a:r>
            <a:r>
              <a:rPr lang="en-US" dirty="0" err="1" smtClean="0"/>
              <a:t>Pushp</a:t>
            </a:r>
            <a:r>
              <a:rPr lang="en-US" dirty="0" smtClean="0"/>
              <a:t> Raj </a:t>
            </a:r>
            <a:r>
              <a:rPr lang="en-US" smtClean="0"/>
              <a:t>Tiwari</a:t>
            </a:r>
            <a:endParaRPr lang="en-US" b="1" dirty="0" smtClean="0"/>
          </a:p>
          <a:p>
            <a:endParaRPr lang="en-US" dirty="0"/>
          </a:p>
          <a:p>
            <a:pPr marL="0" indent="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D53B9C-3962-447A-924F-181EB17C3CF4}"/>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 xmlns:a16="http://schemas.microsoft.com/office/drawing/2014/main" id="{70E9FE4E-7133-46DB-AC60-559AA94C592B}"/>
              </a:ext>
            </a:extLst>
          </p:cNvPr>
          <p:cNvSpPr>
            <a:spLocks noGrp="1"/>
          </p:cNvSpPr>
          <p:nvPr>
            <p:ph idx="1"/>
          </p:nvPr>
        </p:nvSpPr>
        <p:spPr>
          <a:xfrm>
            <a:off x="533400" y="2336873"/>
            <a:ext cx="8272503" cy="3599316"/>
          </a:xfrm>
        </p:spPr>
        <p:txBody>
          <a:bodyPr>
            <a:normAutofit fontScale="77500" lnSpcReduction="20000"/>
          </a:bodyPr>
          <a:lstStyle/>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Rapid urbanisation increases vehicles, causing severe traffic congestion issues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Traffic congestion increases travel time, fuel consumption, and pollution</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Traditional traffic systems fail to handle dynamic real-time conditions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Availability of urban mobility and sensor data enables smarter solutions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Machine learning identifies complex spatiotemporal traffic patterns effectively</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Intelligent transportation systems improve decision-making and traffic flow management</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Study focuses on prediction and optimisation using real-time traffic data</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3845821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D3D7C6-2606-49E0-AEC8-7FE98DD4BD17}"/>
              </a:ext>
            </a:extLst>
          </p:cNvPr>
          <p:cNvSpPr>
            <a:spLocks noGrp="1"/>
          </p:cNvSpPr>
          <p:nvPr>
            <p:ph type="title"/>
          </p:nvPr>
        </p:nvSpPr>
        <p:spPr/>
        <p:txBody>
          <a:bodyPr/>
          <a:lstStyle/>
          <a:p>
            <a:r>
              <a:rPr lang="en-IN" dirty="0"/>
              <a:t>Research Aim and Objectives</a:t>
            </a:r>
          </a:p>
        </p:txBody>
      </p:sp>
      <p:sp>
        <p:nvSpPr>
          <p:cNvPr id="3" name="Content Placeholder 2">
            <a:extLst>
              <a:ext uri="{FF2B5EF4-FFF2-40B4-BE49-F238E27FC236}">
                <a16:creationId xmlns="" xmlns:a16="http://schemas.microsoft.com/office/drawing/2014/main" id="{2403DF53-6589-464A-BCC9-BCB0CA489832}"/>
              </a:ext>
            </a:extLst>
          </p:cNvPr>
          <p:cNvSpPr>
            <a:spLocks noGrp="1"/>
          </p:cNvSpPr>
          <p:nvPr>
            <p:ph idx="1"/>
          </p:nvPr>
        </p:nvSpPr>
        <p:spPr>
          <a:xfrm>
            <a:off x="533400" y="2336873"/>
            <a:ext cx="7957457" cy="3599316"/>
          </a:xfrm>
        </p:spPr>
        <p:txBody>
          <a:bodyPr>
            <a:noAutofit/>
          </a:bodyPr>
          <a:lstStyle/>
          <a:p>
            <a:pPr marL="0" marR="0" indent="0" algn="just">
              <a:lnSpc>
                <a:spcPct val="150000"/>
              </a:lnSpc>
              <a:spcBef>
                <a:spcPts val="800"/>
              </a:spcBef>
              <a:spcAft>
                <a:spcPts val="400"/>
              </a:spcAft>
              <a:buNone/>
            </a:pPr>
            <a:r>
              <a:rPr lang="en-US" sz="1200" b="1" u="sng" kern="100" dirty="0">
                <a:effectLst/>
                <a:latin typeface="Calibri" panose="020F0502020204030204" pitchFamily="34" charset="0"/>
                <a:ea typeface="Times New Roman" panose="02020603050405020304" pitchFamily="18" charset="0"/>
                <a:cs typeface="Times New Roman" panose="02020603050405020304" pitchFamily="18" charset="0"/>
              </a:rPr>
              <a:t>Research Aim</a:t>
            </a:r>
            <a:endParaRPr lang="en-IN" sz="1200" b="1" u="sng"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gn="just">
              <a:lnSpc>
                <a:spcPct val="150000"/>
              </a:lnSpc>
              <a:spcBef>
                <a:spcPts val="0"/>
              </a:spcBef>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purpose of the research is to design and test the machine learning models on the predicted and optimized real-time traffic congestion based on the data of urban mobility and sensors, to enhance the efficiency of traffic flows, to decrease the delays caused by congestion, and to make decisions for the intelligent transportation system.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800"/>
              </a:spcBef>
              <a:spcAft>
                <a:spcPts val="400"/>
              </a:spcAft>
              <a:buNone/>
            </a:pPr>
            <a:r>
              <a:rPr lang="en-US" sz="1200" b="1" u="sng" kern="100" dirty="0">
                <a:effectLst/>
                <a:latin typeface="Calibri" panose="020F0502020204030204" pitchFamily="34" charset="0"/>
                <a:ea typeface="Times New Roman" panose="02020603050405020304" pitchFamily="18" charset="0"/>
                <a:cs typeface="Times New Roman" panose="02020603050405020304" pitchFamily="18" charset="0"/>
              </a:rPr>
              <a:t>Research Objectives</a:t>
            </a:r>
            <a:endParaRPr lang="en-IN" sz="1200" b="1" u="sng"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To collect, preprocess, and combine real-time urban mobility and traffic sensor data in machine learning-based congestion analysis.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aim of the study is to come up with a spatiotemporal machine learning model to predict both short-term and long-term traffic congestion accurately.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To test how best to optimize strategies based on model prediction to increase the efficiency of the use of traffic signals and the use of routes.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To measure model performance based on the accuracy of the predictions made by the model, the RMSE, MAE, and the congestion detection reliability metrics.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To evaluate model scalability and strength in various urban areas and at divergent patterns of traffic demand.</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531345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747701-E087-47F1-9D9C-4B49A9499E73}"/>
              </a:ext>
            </a:extLst>
          </p:cNvPr>
          <p:cNvSpPr>
            <a:spLocks noGrp="1"/>
          </p:cNvSpPr>
          <p:nvPr>
            <p:ph type="title"/>
          </p:nvPr>
        </p:nvSpPr>
        <p:spPr/>
        <p:txBody>
          <a:bodyPr/>
          <a:lstStyle/>
          <a:p>
            <a:r>
              <a:rPr lang="en-IN" dirty="0"/>
              <a:t>Research Question and Rational</a:t>
            </a:r>
          </a:p>
        </p:txBody>
      </p:sp>
      <p:sp>
        <p:nvSpPr>
          <p:cNvPr id="3" name="Content Placeholder 2">
            <a:extLst>
              <a:ext uri="{FF2B5EF4-FFF2-40B4-BE49-F238E27FC236}">
                <a16:creationId xmlns="" xmlns:a16="http://schemas.microsoft.com/office/drawing/2014/main" id="{CD078B2B-E851-49DD-B434-9B876B434A9A}"/>
              </a:ext>
            </a:extLst>
          </p:cNvPr>
          <p:cNvSpPr>
            <a:spLocks noGrp="1"/>
          </p:cNvSpPr>
          <p:nvPr>
            <p:ph idx="1"/>
          </p:nvPr>
        </p:nvSpPr>
        <p:spPr>
          <a:xfrm>
            <a:off x="249089" y="2379408"/>
            <a:ext cx="8495339" cy="3599316"/>
          </a:xfrm>
        </p:spPr>
        <p:txBody>
          <a:bodyPr>
            <a:normAutofit fontScale="77500" lnSpcReduction="20000"/>
          </a:bodyPr>
          <a:lstStyle/>
          <a:p>
            <a:pPr marL="0" marR="0" lvl="0" indent="0" algn="just">
              <a:lnSpc>
                <a:spcPct val="150000"/>
              </a:lnSpc>
              <a:spcBef>
                <a:spcPts val="0"/>
              </a:spcBef>
              <a:spcAft>
                <a:spcPts val="0"/>
              </a:spcAft>
              <a:buNone/>
            </a:pPr>
            <a:r>
              <a:rPr lang="en-US" sz="1800" b="1" u="sng" kern="100" dirty="0">
                <a:effectLst/>
                <a:latin typeface="Calibri" pitchFamily="34" charset="0"/>
                <a:ea typeface="Calibri" panose="020F0502020204030204" pitchFamily="34" charset="0"/>
                <a:cs typeface="Calibri" pitchFamily="34" charset="0"/>
              </a:rPr>
              <a:t>Research Question</a:t>
            </a:r>
          </a:p>
          <a:p>
            <a:pPr marL="342900" marR="0" lvl="0" indent="-342900" algn="just">
              <a:lnSpc>
                <a:spcPct val="150000"/>
              </a:lnSpc>
              <a:spcBef>
                <a:spcPts val="0"/>
              </a:spcBef>
              <a:spcAft>
                <a:spcPts val="0"/>
              </a:spcAft>
              <a:buFont typeface="+mj-lt"/>
              <a:buAutoNum type="arabicPeriod"/>
            </a:pPr>
            <a:r>
              <a:rPr lang="en-US" sz="1800" kern="100" dirty="0">
                <a:effectLst/>
                <a:latin typeface="Calibri" pitchFamily="34" charset="0"/>
                <a:ea typeface="Calibri" panose="020F0502020204030204" pitchFamily="34" charset="0"/>
                <a:cs typeface="Calibri" pitchFamily="34" charset="0"/>
              </a:rPr>
              <a:t>What are the most appropriate spatiotemporal attributes that can be utilized to provide faithful predictive traffic congestion utilizing real-time machine learning models?</a:t>
            </a:r>
            <a:endParaRPr lang="en-IN" sz="1800" kern="100" dirty="0">
              <a:effectLst/>
              <a:latin typeface="Calibri" pitchFamily="34" charset="0"/>
              <a:ea typeface="Calibri" panose="020F0502020204030204" pitchFamily="34" charset="0"/>
              <a:cs typeface="Calibri" pitchFamily="34" charset="0"/>
            </a:endParaRPr>
          </a:p>
          <a:p>
            <a:pPr marL="342900" marR="0" lvl="0" indent="-342900" algn="just">
              <a:lnSpc>
                <a:spcPct val="150000"/>
              </a:lnSpc>
              <a:spcBef>
                <a:spcPts val="0"/>
              </a:spcBef>
              <a:spcAft>
                <a:spcPts val="0"/>
              </a:spcAft>
              <a:buFont typeface="+mj-lt"/>
              <a:buAutoNum type="arabicPeriod"/>
            </a:pPr>
            <a:r>
              <a:rPr lang="en-US" sz="1800" kern="100" dirty="0">
                <a:effectLst/>
                <a:latin typeface="Calibri" pitchFamily="34" charset="0"/>
                <a:ea typeface="Calibri" panose="020F0502020204030204" pitchFamily="34" charset="0"/>
                <a:cs typeface="Calibri" pitchFamily="34" charset="0"/>
              </a:rPr>
              <a:t>To what extent can machine learning models be used to predict traffic congestion in dynamic and heterogeneous urban traffic scenarios?</a:t>
            </a:r>
            <a:endParaRPr lang="en-IN" sz="1800" kern="100" dirty="0">
              <a:effectLst/>
              <a:latin typeface="Calibri" pitchFamily="34" charset="0"/>
              <a:ea typeface="Calibri" panose="020F0502020204030204" pitchFamily="34" charset="0"/>
              <a:cs typeface="Calibri" pitchFamily="34" charset="0"/>
            </a:endParaRPr>
          </a:p>
          <a:p>
            <a:pPr marL="342900" marR="0" lvl="0" indent="-342900" algn="just">
              <a:lnSpc>
                <a:spcPct val="150000"/>
              </a:lnSpc>
              <a:spcBef>
                <a:spcPts val="0"/>
              </a:spcBef>
              <a:spcAft>
                <a:spcPts val="800"/>
              </a:spcAft>
              <a:buFont typeface="+mj-lt"/>
              <a:buAutoNum type="arabicPeriod"/>
            </a:pPr>
            <a:r>
              <a:rPr lang="en-US" sz="1800" kern="100" dirty="0">
                <a:effectLst/>
                <a:latin typeface="Calibri" pitchFamily="34" charset="0"/>
                <a:ea typeface="Calibri" panose="020F0502020204030204" pitchFamily="34" charset="0"/>
                <a:cs typeface="Calibri" pitchFamily="34" charset="0"/>
              </a:rPr>
              <a:t>Which ways can machine learning predictions help in traffic optimization schemes in intelligent transportation systems?</a:t>
            </a:r>
            <a:endParaRPr lang="en-IN" sz="1800" kern="100" dirty="0">
              <a:effectLst/>
              <a:latin typeface="Calibri" pitchFamily="34" charset="0"/>
              <a:ea typeface="Calibri" panose="020F0502020204030204" pitchFamily="34" charset="0"/>
              <a:cs typeface="Calibri" pitchFamily="34" charset="0"/>
            </a:endParaRPr>
          </a:p>
          <a:p>
            <a:pPr marL="0" marR="0" indent="0">
              <a:buNone/>
            </a:pPr>
            <a:r>
              <a:rPr lang="en-IN" sz="1800" b="1" u="sng" dirty="0">
                <a:effectLst/>
                <a:latin typeface="Calibri" pitchFamily="34" charset="0"/>
                <a:ea typeface="Times New Roman" panose="02020603050405020304" pitchFamily="18" charset="0"/>
                <a:cs typeface="Calibri" pitchFamily="34" charset="0"/>
              </a:rPr>
              <a:t>Research Rational</a:t>
            </a:r>
          </a:p>
          <a:p>
            <a:pPr marL="0" marR="0"/>
            <a:r>
              <a:rPr lang="en-IN" sz="1800" dirty="0">
                <a:effectLst/>
                <a:latin typeface="Calibri" pitchFamily="34" charset="0"/>
                <a:ea typeface="Times New Roman" panose="02020603050405020304" pitchFamily="18" charset="0"/>
                <a:cs typeface="Calibri" pitchFamily="34" charset="0"/>
              </a:rPr>
              <a:t>Traditional systems lack adaptability to changing real-time traffic conditions</a:t>
            </a:r>
          </a:p>
          <a:p>
            <a:pPr marL="0" marR="0"/>
            <a:r>
              <a:rPr lang="en-IN" sz="1800" dirty="0">
                <a:effectLst/>
                <a:latin typeface="Calibri" pitchFamily="34" charset="0"/>
                <a:ea typeface="Times New Roman" panose="02020603050405020304" pitchFamily="18" charset="0"/>
                <a:cs typeface="Calibri" pitchFamily="34" charset="0"/>
              </a:rPr>
              <a:t>Real-time datasets enable more accurate and intelligent traffic prediction</a:t>
            </a:r>
          </a:p>
          <a:p>
            <a:pPr marL="0" marR="0"/>
            <a:r>
              <a:rPr lang="en-IN" sz="1800" dirty="0">
                <a:effectLst/>
                <a:latin typeface="Calibri" pitchFamily="34" charset="0"/>
                <a:ea typeface="Times New Roman" panose="02020603050405020304" pitchFamily="18" charset="0"/>
                <a:cs typeface="Calibri" pitchFamily="34" charset="0"/>
              </a:rPr>
              <a:t>Machine learning improves decision-making in intelligent transportation systems</a:t>
            </a:r>
          </a:p>
          <a:p>
            <a:pPr marL="0" marR="0"/>
            <a:r>
              <a:rPr lang="en-IN" sz="1800" dirty="0">
                <a:effectLst/>
                <a:latin typeface="Calibri" pitchFamily="34" charset="0"/>
                <a:ea typeface="Times New Roman" panose="02020603050405020304" pitchFamily="18" charset="0"/>
                <a:cs typeface="Calibri" pitchFamily="34" charset="0"/>
              </a:rPr>
              <a:t>Research supports sustainable urban mobility and efficient traffic management</a:t>
            </a:r>
          </a:p>
          <a:p>
            <a:endParaRPr lang="en-IN" dirty="0"/>
          </a:p>
        </p:txBody>
      </p:sp>
    </p:spTree>
    <p:extLst>
      <p:ext uri="{BB962C8B-B14F-4D97-AF65-F5344CB8AC3E}">
        <p14:creationId xmlns="" xmlns:p14="http://schemas.microsoft.com/office/powerpoint/2010/main" val="224110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C26AEE5-0814-5AB8-4232-F39D7E79587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05C7C7A-C7A1-5240-B826-98D1DB69D11D}"/>
              </a:ext>
            </a:extLst>
          </p:cNvPr>
          <p:cNvSpPr>
            <a:spLocks noGrp="1"/>
          </p:cNvSpPr>
          <p:nvPr>
            <p:ph type="title"/>
          </p:nvPr>
        </p:nvSpPr>
        <p:spPr/>
        <p:txBody>
          <a:bodyPr/>
          <a:lstStyle/>
          <a:p>
            <a:r>
              <a:t>Dataset Overview</a:t>
            </a:r>
          </a:p>
        </p:txBody>
      </p:sp>
      <p:sp>
        <p:nvSpPr>
          <p:cNvPr id="3" name="Content Placeholder 2">
            <a:extLst>
              <a:ext uri="{FF2B5EF4-FFF2-40B4-BE49-F238E27FC236}">
                <a16:creationId xmlns="" xmlns:a16="http://schemas.microsoft.com/office/drawing/2014/main" id="{62B3B9A5-294F-5D45-C233-DC36EBA81BEF}"/>
              </a:ext>
            </a:extLst>
          </p:cNvPr>
          <p:cNvSpPr>
            <a:spLocks noGrp="1"/>
          </p:cNvSpPr>
          <p:nvPr>
            <p:ph idx="1"/>
          </p:nvPr>
        </p:nvSpPr>
        <p:spPr>
          <a:xfrm>
            <a:off x="381187" y="2118664"/>
            <a:ext cx="7197436" cy="2993664"/>
          </a:xfrm>
        </p:spPr>
        <p:txBody>
          <a:bodyPr>
            <a:normAutofit/>
          </a:bodyPr>
          <a:lstStyle/>
          <a:p>
            <a:r>
              <a:rPr sz="1400" dirty="0">
                <a:latin typeface="Calibri" pitchFamily="34" charset="0"/>
                <a:cs typeface="Calibri" pitchFamily="34" charset="0"/>
              </a:rPr>
              <a:t>Dataset sourced from </a:t>
            </a:r>
            <a:r>
              <a:rPr sz="1400" dirty="0" err="1">
                <a:latin typeface="Calibri" pitchFamily="34" charset="0"/>
                <a:cs typeface="Calibri" pitchFamily="34" charset="0"/>
              </a:rPr>
              <a:t>Zenodo</a:t>
            </a:r>
            <a:r>
              <a:rPr sz="1400" dirty="0">
                <a:latin typeface="Calibri" pitchFamily="34" charset="0"/>
                <a:cs typeface="Calibri" pitchFamily="34" charset="0"/>
              </a:rPr>
              <a:t> (Record ID: 3939793)</a:t>
            </a:r>
          </a:p>
          <a:p>
            <a:r>
              <a:rPr sz="1400" dirty="0">
                <a:latin typeface="Calibri" pitchFamily="34" charset="0"/>
                <a:cs typeface="Calibri" pitchFamily="34" charset="0"/>
              </a:rPr>
              <a:t>California Traffic Dataset (</a:t>
            </a:r>
            <a:r>
              <a:rPr sz="1400" dirty="0" err="1">
                <a:latin typeface="Calibri" pitchFamily="34" charset="0"/>
                <a:cs typeface="Calibri" pitchFamily="34" charset="0"/>
              </a:rPr>
              <a:t>PeMS</a:t>
            </a:r>
            <a:r>
              <a:rPr sz="1400" dirty="0">
                <a:latin typeface="Calibri" pitchFamily="34" charset="0"/>
                <a:cs typeface="Calibri" pitchFamily="34" charset="0"/>
              </a:rPr>
              <a:t> sensors)</a:t>
            </a:r>
          </a:p>
          <a:p>
            <a:r>
              <a:rPr sz="1400" dirty="0">
                <a:latin typeface="Calibri" pitchFamily="34" charset="0"/>
                <a:cs typeface="Calibri" pitchFamily="34" charset="0"/>
              </a:rPr>
              <a:t>Downloaded file: California-data-set.zip (~606MB)</a:t>
            </a:r>
          </a:p>
          <a:p>
            <a:r>
              <a:rPr sz="1400" dirty="0">
                <a:latin typeface="Calibri" pitchFamily="34" charset="0"/>
                <a:cs typeface="Calibri" pitchFamily="34" charset="0"/>
              </a:rPr>
              <a:t>Extracted size: ~4.1GB with 3 CSV files</a:t>
            </a:r>
          </a:p>
          <a:p>
            <a:r>
              <a:rPr sz="1400" dirty="0">
                <a:latin typeface="Calibri" pitchFamily="34" charset="0"/>
                <a:cs typeface="Calibri" pitchFamily="34" charset="0"/>
              </a:rPr>
              <a:t>Files: pems-4w.csv, pems-8w.csv, pems-12w.csv</a:t>
            </a:r>
          </a:p>
          <a:p>
            <a:r>
              <a:rPr sz="1400" dirty="0">
                <a:latin typeface="Calibri" pitchFamily="34" charset="0"/>
                <a:cs typeface="Calibri" pitchFamily="34" charset="0"/>
              </a:rPr>
              <a:t>Traffic speed recorded every 5 minutes</a:t>
            </a:r>
          </a:p>
          <a:p>
            <a:r>
              <a:rPr sz="1400" dirty="0">
                <a:latin typeface="Calibri" pitchFamily="34" charset="0"/>
                <a:cs typeface="Calibri" pitchFamily="34" charset="0"/>
              </a:rPr>
              <a:t>Final dataset: time-series average speed with timestamp index</a:t>
            </a:r>
          </a:p>
        </p:txBody>
      </p:sp>
      <p:pic>
        <p:nvPicPr>
          <p:cNvPr id="5" name="Picture 4">
            <a:extLst>
              <a:ext uri="{FF2B5EF4-FFF2-40B4-BE49-F238E27FC236}">
                <a16:creationId xmlns="" xmlns:a16="http://schemas.microsoft.com/office/drawing/2014/main" id="{85C2DCF8-2399-E098-86AD-C3BF447F5421}"/>
              </a:ext>
            </a:extLst>
          </p:cNvPr>
          <p:cNvPicPr>
            <a:picLocks noChangeAspect="1"/>
          </p:cNvPicPr>
          <p:nvPr/>
        </p:nvPicPr>
        <p:blipFill>
          <a:blip r:embed="rId3"/>
          <a:stretch>
            <a:fillRect/>
          </a:stretch>
        </p:blipFill>
        <p:spPr>
          <a:xfrm>
            <a:off x="676349" y="4911144"/>
            <a:ext cx="6607113" cy="1844200"/>
          </a:xfrm>
          <a:prstGeom prst="rect">
            <a:avLst/>
          </a:prstGeom>
        </p:spPr>
      </p:pic>
    </p:spTree>
    <p:extLst>
      <p:ext uri="{BB962C8B-B14F-4D97-AF65-F5344CB8AC3E}">
        <p14:creationId xmlns="" xmlns:p14="http://schemas.microsoft.com/office/powerpoint/2010/main" val="95062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normAutofit/>
          </a:bodyPr>
          <a:lstStyle/>
          <a:p>
            <a:r>
              <a:rPr sz="1800" dirty="0">
                <a:latin typeface="Calibri" pitchFamily="34" charset="0"/>
                <a:cs typeface="Calibri" pitchFamily="34" charset="0"/>
              </a:rPr>
              <a:t>Dataset downloaded using </a:t>
            </a:r>
            <a:r>
              <a:rPr sz="1800" dirty="0" err="1">
                <a:latin typeface="Calibri" pitchFamily="34" charset="0"/>
                <a:cs typeface="Calibri" pitchFamily="34" charset="0"/>
              </a:rPr>
              <a:t>Zenodo</a:t>
            </a:r>
            <a:r>
              <a:rPr sz="1800" dirty="0">
                <a:latin typeface="Calibri" pitchFamily="34" charset="0"/>
                <a:cs typeface="Calibri" pitchFamily="34" charset="0"/>
              </a:rPr>
              <a:t> API</a:t>
            </a:r>
          </a:p>
          <a:p>
            <a:r>
              <a:rPr sz="1800" dirty="0">
                <a:latin typeface="Calibri" pitchFamily="34" charset="0"/>
                <a:cs typeface="Calibri" pitchFamily="34" charset="0"/>
              </a:rPr>
              <a:t>Extracted and processed multiple large CSV files</a:t>
            </a:r>
          </a:p>
          <a:p>
            <a:r>
              <a:rPr sz="1800" dirty="0">
                <a:latin typeface="Calibri" pitchFamily="34" charset="0"/>
                <a:cs typeface="Calibri" pitchFamily="34" charset="0"/>
              </a:rPr>
              <a:t>Computed average traffic speed per time step</a:t>
            </a:r>
          </a:p>
          <a:p>
            <a:r>
              <a:rPr sz="1800" dirty="0">
                <a:latin typeface="Calibri" pitchFamily="34" charset="0"/>
                <a:cs typeface="Calibri" pitchFamily="34" charset="0"/>
              </a:rPr>
              <a:t>Merged all datasets into single time-series</a:t>
            </a:r>
          </a:p>
          <a:p>
            <a:r>
              <a:rPr sz="1800" dirty="0">
                <a:latin typeface="Calibri" pitchFamily="34" charset="0"/>
                <a:cs typeface="Calibri" pitchFamily="34" charset="0"/>
              </a:rPr>
              <a:t>Performed exploratory data analysis (EDA)</a:t>
            </a:r>
          </a:p>
          <a:p>
            <a:r>
              <a:rPr sz="1800" dirty="0">
                <a:latin typeface="Calibri" pitchFamily="34" charset="0"/>
                <a:cs typeface="Calibri" pitchFamily="34" charset="0"/>
              </a:rPr>
              <a:t>Developed regression-based prediction models</a:t>
            </a:r>
          </a:p>
          <a:p>
            <a:r>
              <a:rPr sz="1800" dirty="0">
                <a:latin typeface="Calibri" pitchFamily="34" charset="0"/>
                <a:cs typeface="Calibri" pitchFamily="34" charset="0"/>
              </a:rPr>
              <a:t>Implemented traffic </a:t>
            </a:r>
            <a:r>
              <a:rPr sz="1800">
                <a:latin typeface="Calibri" pitchFamily="34" charset="0"/>
                <a:cs typeface="Calibri" pitchFamily="34" charset="0"/>
              </a:rPr>
              <a:t>optimisation</a:t>
            </a:r>
            <a:r>
              <a:rPr sz="1800" dirty="0">
                <a:latin typeface="Calibri" pitchFamily="34" charset="0"/>
                <a:cs typeface="Calibri" pitchFamily="34" charset="0"/>
              </a:rPr>
              <a:t> strategies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a:xfrm>
            <a:off x="533400" y="2336873"/>
            <a:ext cx="6887389" cy="2235127"/>
          </a:xfrm>
        </p:spPr>
        <p:txBody>
          <a:bodyPr>
            <a:noAutofit/>
          </a:bodyPr>
          <a:lstStyle/>
          <a:p>
            <a:r>
              <a:rPr sz="1400" dirty="0">
                <a:latin typeface="Calibri" pitchFamily="34" charset="0"/>
                <a:cs typeface="Calibri" pitchFamily="34" charset="0"/>
              </a:rPr>
              <a:t>Created timestamp index with 5-minute intervals</a:t>
            </a:r>
          </a:p>
          <a:p>
            <a:r>
              <a:rPr sz="1400" dirty="0">
                <a:latin typeface="Calibri" pitchFamily="34" charset="0"/>
                <a:cs typeface="Calibri" pitchFamily="34" charset="0"/>
              </a:rPr>
              <a:t>Generated features: hour, </a:t>
            </a:r>
            <a:r>
              <a:rPr sz="1400" dirty="0" err="1">
                <a:latin typeface="Calibri" pitchFamily="34" charset="0"/>
                <a:cs typeface="Calibri" pitchFamily="34" charset="0"/>
              </a:rPr>
              <a:t>day_of_week</a:t>
            </a:r>
            <a:endParaRPr sz="1400" dirty="0">
              <a:latin typeface="Calibri" pitchFamily="34" charset="0"/>
              <a:cs typeface="Calibri" pitchFamily="34" charset="0"/>
            </a:endParaRPr>
          </a:p>
          <a:p>
            <a:r>
              <a:rPr sz="1400" dirty="0">
                <a:latin typeface="Calibri" pitchFamily="34" charset="0"/>
                <a:cs typeface="Calibri" pitchFamily="34" charset="0"/>
              </a:rPr>
              <a:t>Added peak hour and weekend indicators</a:t>
            </a:r>
          </a:p>
          <a:p>
            <a:r>
              <a:rPr sz="1400" dirty="0">
                <a:latin typeface="Calibri" pitchFamily="34" charset="0"/>
                <a:cs typeface="Calibri" pitchFamily="34" charset="0"/>
              </a:rPr>
              <a:t>Applied cyclical encoding (</a:t>
            </a:r>
            <a:r>
              <a:rPr sz="1400" dirty="0" err="1">
                <a:latin typeface="Calibri" pitchFamily="34" charset="0"/>
                <a:cs typeface="Calibri" pitchFamily="34" charset="0"/>
              </a:rPr>
              <a:t>hour_sin</a:t>
            </a:r>
            <a:r>
              <a:rPr sz="1400" dirty="0">
                <a:latin typeface="Calibri" pitchFamily="34" charset="0"/>
                <a:cs typeface="Calibri" pitchFamily="34" charset="0"/>
              </a:rPr>
              <a:t>, </a:t>
            </a:r>
            <a:r>
              <a:rPr sz="1400" dirty="0" err="1">
                <a:latin typeface="Calibri" pitchFamily="34" charset="0"/>
                <a:cs typeface="Calibri" pitchFamily="34" charset="0"/>
              </a:rPr>
              <a:t>hour_cos</a:t>
            </a:r>
            <a:r>
              <a:rPr sz="1400" dirty="0">
                <a:latin typeface="Calibri" pitchFamily="34" charset="0"/>
                <a:cs typeface="Calibri" pitchFamily="34" charset="0"/>
              </a:rPr>
              <a:t>)</a:t>
            </a:r>
          </a:p>
          <a:p>
            <a:r>
              <a:rPr sz="1400" dirty="0">
                <a:latin typeface="Calibri" pitchFamily="34" charset="0"/>
                <a:cs typeface="Calibri" pitchFamily="34" charset="0"/>
              </a:rPr>
              <a:t>Created lag features: lag_1, lag_3, lag_6</a:t>
            </a:r>
          </a:p>
          <a:p>
            <a:r>
              <a:rPr sz="1400" dirty="0">
                <a:latin typeface="Calibri" pitchFamily="34" charset="0"/>
                <a:cs typeface="Calibri" pitchFamily="34" charset="0"/>
              </a:rPr>
              <a:t>Computed rolling mean (30-minute window)</a:t>
            </a:r>
          </a:p>
          <a:p>
            <a:r>
              <a:rPr sz="1400" dirty="0">
                <a:latin typeface="Calibri" pitchFamily="34" charset="0"/>
                <a:cs typeface="Calibri" pitchFamily="34" charset="0"/>
              </a:rPr>
              <a:t>Split dataset into 80% training and 20% testing</a:t>
            </a:r>
          </a:p>
        </p:txBody>
      </p:sp>
      <p:pic>
        <p:nvPicPr>
          <p:cNvPr id="5" name="Picture 4">
            <a:extLst>
              <a:ext uri="{FF2B5EF4-FFF2-40B4-BE49-F238E27FC236}">
                <a16:creationId xmlns="" xmlns:a16="http://schemas.microsoft.com/office/drawing/2014/main" id="{820EA167-0270-E942-0934-234AAA06C87A}"/>
              </a:ext>
            </a:extLst>
          </p:cNvPr>
          <p:cNvPicPr>
            <a:picLocks noChangeAspect="1"/>
          </p:cNvPicPr>
          <p:nvPr/>
        </p:nvPicPr>
        <p:blipFill>
          <a:blip r:embed="rId3"/>
          <a:stretch>
            <a:fillRect/>
          </a:stretch>
        </p:blipFill>
        <p:spPr>
          <a:xfrm>
            <a:off x="4746082" y="4478482"/>
            <a:ext cx="4212682" cy="2379518"/>
          </a:xfrm>
          <a:prstGeom prst="rect">
            <a:avLst/>
          </a:prstGeom>
        </p:spPr>
      </p:pic>
      <p:pic>
        <p:nvPicPr>
          <p:cNvPr id="7" name="Picture 6">
            <a:extLst>
              <a:ext uri="{FF2B5EF4-FFF2-40B4-BE49-F238E27FC236}">
                <a16:creationId xmlns="" xmlns:a16="http://schemas.microsoft.com/office/drawing/2014/main" id="{71B33482-8C60-B03E-B719-C176C2A926E0}"/>
              </a:ext>
            </a:extLst>
          </p:cNvPr>
          <p:cNvPicPr>
            <a:picLocks noChangeAspect="1"/>
          </p:cNvPicPr>
          <p:nvPr/>
        </p:nvPicPr>
        <p:blipFill>
          <a:blip r:embed="rId4"/>
          <a:stretch>
            <a:fillRect/>
          </a:stretch>
        </p:blipFill>
        <p:spPr>
          <a:xfrm>
            <a:off x="272548" y="4478482"/>
            <a:ext cx="4212682" cy="23471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Development</a:t>
            </a:r>
          </a:p>
        </p:txBody>
      </p:sp>
      <p:sp>
        <p:nvSpPr>
          <p:cNvPr id="3" name="Content Placeholder 2"/>
          <p:cNvSpPr>
            <a:spLocks noGrp="1"/>
          </p:cNvSpPr>
          <p:nvPr>
            <p:ph idx="1"/>
          </p:nvPr>
        </p:nvSpPr>
        <p:spPr/>
        <p:txBody>
          <a:bodyPr>
            <a:normAutofit/>
          </a:bodyPr>
          <a:lstStyle/>
          <a:p>
            <a:r>
              <a:rPr sz="2000">
                <a:latin typeface="Calibri" pitchFamily="34" charset="0"/>
                <a:cs typeface="Calibri" pitchFamily="34" charset="0"/>
              </a:rPr>
              <a:t>Applied feature scaling using StandardScaler</a:t>
            </a:r>
          </a:p>
          <a:p>
            <a:r>
              <a:rPr sz="2000">
                <a:latin typeface="Calibri" pitchFamily="34" charset="0"/>
                <a:cs typeface="Calibri" pitchFamily="34" charset="0"/>
              </a:rPr>
              <a:t>Trained Linear Regression model</a:t>
            </a:r>
          </a:p>
          <a:p>
            <a:r>
              <a:rPr sz="2000">
                <a:latin typeface="Calibri" pitchFamily="34" charset="0"/>
                <a:cs typeface="Calibri" pitchFamily="34" charset="0"/>
              </a:rPr>
              <a:t>Implemented Support Vector Regression (SVR)</a:t>
            </a:r>
          </a:p>
          <a:p>
            <a:r>
              <a:rPr sz="2000">
                <a:latin typeface="Calibri" pitchFamily="34" charset="0"/>
                <a:cs typeface="Calibri" pitchFamily="34" charset="0"/>
              </a:rPr>
              <a:t>Used Random Forest Regressor (Ensemble model)</a:t>
            </a:r>
          </a:p>
          <a:p>
            <a:r>
              <a:rPr sz="2000">
                <a:latin typeface="Calibri" pitchFamily="34" charset="0"/>
                <a:cs typeface="Calibri" pitchFamily="34" charset="0"/>
              </a:rPr>
              <a:t>Applied Gradient Boosting Regressor</a:t>
            </a:r>
          </a:p>
          <a:p>
            <a:r>
              <a:rPr sz="2000">
                <a:latin typeface="Calibri" pitchFamily="34" charset="0"/>
                <a:cs typeface="Calibri" pitchFamily="34" charset="0"/>
              </a:rPr>
              <a:t>Developed LSTM and GRU deep learning models</a:t>
            </a:r>
          </a:p>
          <a:p>
            <a:r>
              <a:rPr sz="2000">
                <a:latin typeface="Calibri" pitchFamily="34" charset="0"/>
                <a:cs typeface="Calibri" pitchFamily="34" charset="0"/>
              </a:rPr>
              <a:t>Compared ML and DL model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&amp; Results</a:t>
            </a:r>
          </a:p>
        </p:txBody>
      </p:sp>
      <p:sp>
        <p:nvSpPr>
          <p:cNvPr id="3" name="Content Placeholder 2"/>
          <p:cNvSpPr>
            <a:spLocks noGrp="1"/>
          </p:cNvSpPr>
          <p:nvPr>
            <p:ph idx="1"/>
          </p:nvPr>
        </p:nvSpPr>
        <p:spPr>
          <a:xfrm>
            <a:off x="533400" y="2336873"/>
            <a:ext cx="5742709" cy="2048091"/>
          </a:xfrm>
        </p:spPr>
        <p:txBody>
          <a:bodyPr>
            <a:normAutofit fontScale="62500" lnSpcReduction="20000"/>
          </a:bodyPr>
          <a:lstStyle/>
          <a:p>
            <a:r>
              <a:rPr dirty="0"/>
              <a:t>Random Forest → R²: 0.486, RMSE: 2.659, MAE: 1.922</a:t>
            </a:r>
          </a:p>
          <a:p>
            <a:r>
              <a:rPr dirty="0"/>
              <a:t>Gradient Boosting → R²: 0.458, RMSE: 2.731, MAE: 1.982</a:t>
            </a:r>
          </a:p>
          <a:p>
            <a:r>
              <a:rPr dirty="0"/>
              <a:t>Linear Regression → R²: 0.427, RMSE: 2.808, MAE: 2.029</a:t>
            </a:r>
          </a:p>
          <a:p>
            <a:r>
              <a:rPr dirty="0"/>
              <a:t>SVR → R²: 0.380, RMSE: 2.921, MAE: 2.057</a:t>
            </a:r>
          </a:p>
          <a:p>
            <a:r>
              <a:rPr dirty="0"/>
              <a:t>Best Model: Random Forest</a:t>
            </a:r>
          </a:p>
          <a:p>
            <a:r>
              <a:rPr dirty="0"/>
              <a:t>LSTM R²: 0.418, GRU R²: 0.419</a:t>
            </a:r>
          </a:p>
          <a:p>
            <a:r>
              <a:rPr dirty="0"/>
              <a:t>Optimization improved average traffic speed</a:t>
            </a:r>
          </a:p>
        </p:txBody>
      </p:sp>
      <p:pic>
        <p:nvPicPr>
          <p:cNvPr id="5" name="Picture 4">
            <a:extLst>
              <a:ext uri="{FF2B5EF4-FFF2-40B4-BE49-F238E27FC236}">
                <a16:creationId xmlns="" xmlns:a16="http://schemas.microsoft.com/office/drawing/2014/main" id="{CAB61B6E-6BC3-9A7F-AF70-44FE06E5EB68}"/>
              </a:ext>
            </a:extLst>
          </p:cNvPr>
          <p:cNvPicPr>
            <a:picLocks noChangeAspect="1"/>
          </p:cNvPicPr>
          <p:nvPr/>
        </p:nvPicPr>
        <p:blipFill>
          <a:blip r:embed="rId3"/>
          <a:stretch>
            <a:fillRect/>
          </a:stretch>
        </p:blipFill>
        <p:spPr>
          <a:xfrm>
            <a:off x="4679014" y="4380711"/>
            <a:ext cx="4464986" cy="2477289"/>
          </a:xfrm>
          <a:prstGeom prst="rect">
            <a:avLst/>
          </a:prstGeom>
        </p:spPr>
      </p:pic>
      <p:pic>
        <p:nvPicPr>
          <p:cNvPr id="7" name="Picture 6">
            <a:extLst>
              <a:ext uri="{FF2B5EF4-FFF2-40B4-BE49-F238E27FC236}">
                <a16:creationId xmlns="" xmlns:a16="http://schemas.microsoft.com/office/drawing/2014/main" id="{3FC29DCC-F889-6229-6363-A2D0CD5EFEB0}"/>
              </a:ext>
            </a:extLst>
          </p:cNvPr>
          <p:cNvPicPr>
            <a:picLocks noChangeAspect="1"/>
          </p:cNvPicPr>
          <p:nvPr/>
        </p:nvPicPr>
        <p:blipFill>
          <a:blip r:embed="rId4"/>
          <a:stretch>
            <a:fillRect/>
          </a:stretch>
        </p:blipFill>
        <p:spPr>
          <a:xfrm>
            <a:off x="214028" y="4380711"/>
            <a:ext cx="4464986" cy="2477289"/>
          </a:xfrm>
          <a:prstGeom prst="rect">
            <a:avLst/>
          </a:prstGeom>
        </p:spPr>
      </p:pic>
      <p:pic>
        <p:nvPicPr>
          <p:cNvPr id="9" name="Picture 8">
            <a:extLst>
              <a:ext uri="{FF2B5EF4-FFF2-40B4-BE49-F238E27FC236}">
                <a16:creationId xmlns="" xmlns:a16="http://schemas.microsoft.com/office/drawing/2014/main" id="{C83FED7D-7C33-4F0A-932A-8010E9C0B037}"/>
              </a:ext>
            </a:extLst>
          </p:cNvPr>
          <p:cNvPicPr>
            <a:picLocks noChangeAspect="1"/>
          </p:cNvPicPr>
          <p:nvPr/>
        </p:nvPicPr>
        <p:blipFill>
          <a:blip r:embed="rId5"/>
          <a:stretch>
            <a:fillRect/>
          </a:stretch>
        </p:blipFill>
        <p:spPr>
          <a:xfrm>
            <a:off x="5850056" y="2068712"/>
            <a:ext cx="3156234" cy="22007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E01B12-4460-4AE9-9E01-67193C3F5B3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 xmlns:a16="http://schemas.microsoft.com/office/drawing/2014/main" id="{5611603C-964E-47C1-AB5F-F026E7EB08EC}"/>
              </a:ext>
            </a:extLst>
          </p:cNvPr>
          <p:cNvSpPr>
            <a:spLocks noGrp="1"/>
          </p:cNvSpPr>
          <p:nvPr>
            <p:ph idx="1"/>
          </p:nvPr>
        </p:nvSpPr>
        <p:spPr>
          <a:xfrm>
            <a:off x="533400" y="2336873"/>
            <a:ext cx="8318607" cy="3599316"/>
          </a:xfrm>
        </p:spPr>
        <p:txBody>
          <a:bodyPr>
            <a:normAutofit/>
          </a:bodyPr>
          <a:lstStyle/>
          <a:p>
            <a:pPr marL="0" marR="0"/>
            <a:r>
              <a:rPr lang="en-IN" sz="1800" dirty="0">
                <a:effectLst/>
                <a:latin typeface="Calibri" pitchFamily="34" charset="0"/>
                <a:ea typeface="Times New Roman" panose="02020603050405020304" pitchFamily="18" charset="0"/>
                <a:cs typeface="Calibri" pitchFamily="34" charset="0"/>
              </a:rPr>
              <a:t>Random Forest achieved highest performance among all tested models</a:t>
            </a:r>
          </a:p>
          <a:p>
            <a:pPr marL="0" marR="0"/>
            <a:r>
              <a:rPr lang="en-IN" sz="1800" dirty="0">
                <a:effectLst/>
                <a:latin typeface="Calibri" pitchFamily="34" charset="0"/>
                <a:ea typeface="Times New Roman" panose="02020603050405020304" pitchFamily="18" charset="0"/>
                <a:cs typeface="Calibri" pitchFamily="34" charset="0"/>
              </a:rPr>
              <a:t>Model achieved R² score of 0.486 with lowest errors</a:t>
            </a:r>
          </a:p>
          <a:p>
            <a:pPr marL="0" marR="0"/>
            <a:r>
              <a:rPr lang="en-IN" sz="1800" dirty="0">
                <a:effectLst/>
                <a:latin typeface="Calibri" pitchFamily="34" charset="0"/>
                <a:ea typeface="Times New Roman" panose="02020603050405020304" pitchFamily="18" charset="0"/>
                <a:cs typeface="Calibri" pitchFamily="34" charset="0"/>
              </a:rPr>
              <a:t>Gradient Boosting and Linear Regression showed moderate prediction performance</a:t>
            </a:r>
          </a:p>
          <a:p>
            <a:pPr marL="0" marR="0"/>
            <a:r>
              <a:rPr lang="en-IN" sz="1800" dirty="0">
                <a:effectLst/>
                <a:latin typeface="Calibri" pitchFamily="34" charset="0"/>
                <a:ea typeface="Times New Roman" panose="02020603050405020304" pitchFamily="18" charset="0"/>
                <a:cs typeface="Calibri" pitchFamily="34" charset="0"/>
              </a:rPr>
              <a:t>SVR model performed lower compared to other machine learning models</a:t>
            </a:r>
          </a:p>
          <a:p>
            <a:pPr marL="0" marR="0"/>
            <a:r>
              <a:rPr lang="en-IN" sz="1800" dirty="0">
                <a:effectLst/>
                <a:latin typeface="Calibri" pitchFamily="34" charset="0"/>
                <a:ea typeface="Times New Roman" panose="02020603050405020304" pitchFamily="18" charset="0"/>
                <a:cs typeface="Calibri" pitchFamily="34" charset="0"/>
              </a:rPr>
              <a:t>Deep learning models LSTM and GRU showed comparable results</a:t>
            </a:r>
          </a:p>
          <a:p>
            <a:pPr marL="0" marR="0"/>
            <a:r>
              <a:rPr lang="en-IN" sz="1800" dirty="0">
                <a:effectLst/>
                <a:latin typeface="Calibri" pitchFamily="34" charset="0"/>
                <a:ea typeface="Times New Roman" panose="02020603050405020304" pitchFamily="18" charset="0"/>
                <a:cs typeface="Calibri" pitchFamily="34" charset="0"/>
              </a:rPr>
              <a:t>Optimisation strategies improved average traffic speed and flow efficiency</a:t>
            </a:r>
          </a:p>
          <a:p>
            <a:pPr marL="0" marR="0"/>
            <a:r>
              <a:rPr lang="en-IN" sz="1800" dirty="0">
                <a:effectLst/>
                <a:latin typeface="Calibri" pitchFamily="34" charset="0"/>
                <a:ea typeface="Times New Roman" panose="02020603050405020304" pitchFamily="18" charset="0"/>
                <a:cs typeface="Calibri" pitchFamily="34" charset="0"/>
              </a:rPr>
              <a:t>Machine learning effectively supports intelligent traffic management systems</a:t>
            </a:r>
          </a:p>
          <a:p>
            <a:endParaRPr lang="en-IN" dirty="0"/>
          </a:p>
        </p:txBody>
      </p:sp>
    </p:spTree>
    <p:extLst>
      <p:ext uri="{BB962C8B-B14F-4D97-AF65-F5344CB8AC3E}">
        <p14:creationId xmlns="" xmlns:p14="http://schemas.microsoft.com/office/powerpoint/2010/main" val="132147003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1236</TotalTime>
  <Words>1773</Words>
  <Application>Microsoft Office PowerPoint</Application>
  <PresentationFormat>On-screen Show (4:3)</PresentationFormat>
  <Paragraphs>89</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Berlin</vt:lpstr>
      <vt:lpstr>Machine learning–based intelligent traffic congestion prediction and optimisation using real-time urban mobility and sensor data</vt:lpstr>
      <vt:lpstr>Introduction</vt:lpstr>
      <vt:lpstr>Research Aim and Objectives</vt:lpstr>
      <vt:lpstr>Research Question and Rational</vt:lpstr>
      <vt:lpstr>Dataset Overview</vt:lpstr>
      <vt:lpstr>Methodology</vt:lpstr>
      <vt:lpstr>Data Preprocessing</vt:lpstr>
      <vt:lpstr>Model Development</vt:lpstr>
      <vt:lpstr>Evaluation &amp; Results</vt:lpstr>
      <vt:lpstr>Conclusion</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learning–based intelligent traffic congestion prediction and optimisation using real-time urban mobility and sensor data</dc:title>
  <dc:subject/>
  <dc:creator/>
  <cp:keywords/>
  <dc:description>generated using python-pptx</dc:description>
  <cp:lastModifiedBy>Anil Chowdary</cp:lastModifiedBy>
  <cp:revision>20</cp:revision>
  <dcterms:created xsi:type="dcterms:W3CDTF">2013-01-27T09:14:16Z</dcterms:created>
  <dcterms:modified xsi:type="dcterms:W3CDTF">2026-03-27T09:29:10Z</dcterms:modified>
  <cp:category/>
</cp:coreProperties>
</file>